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20440"/>
            <a:ext cx="12188952" cy="54864"/>
          </a:xfrm>
          <a:prstGeom prst="rect">
            <a:avLst/>
          </a:prstGeom>
          <a:solidFill>
            <a:srgbClr val="E8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GLOW vs FLUX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B0C8F0"/>
                </a:solidFill>
              </a:rPr>
              <a:t>Comparing Normalizing Flows and Flow Matching
for Face Image Generation at 64×64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D0DCF0"/>
                </a:solidFill>
              </a:rPr>
              <a:t>Younghyeok Kim  |  Korea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90A8D4"/>
                </a:solidFill>
              </a:rPr>
              <a:t>Generative Artificial Intelligence —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Which generative paradigm offers better quality per compute at low resolution?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1A1A2E"/>
                </a:solidFill>
              </a:rPr>
              <a:t>• Diffusion / Flow Matching: state-of-the-art quality, but require many NFEs (≥4 steps)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1A1A2E"/>
                </a:solidFill>
              </a:rPr>
              <a:t>• Normalizing Flows (GLOW): NFE = 1  +  exact log-likelihood — unavailable in diffusion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1A1A2E"/>
                </a:solidFill>
              </a:rPr>
              <a:t>• Key question: at the same 64×64 resolution, which is better per unit compute?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1A1A2E"/>
                </a:solidFill>
              </a:rPr>
              <a:t>• FLUX.1 designed for ≥512×512 — what happens when forced to 64×64?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1A1A2E"/>
                </a:solidFill>
              </a:rPr>
              <a:t>• We span a full Pareto frontier: NFE ∈ {1, 4, 8, 10, 20, 28, 50, 100}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074920"/>
            <a:ext cx="3611880" cy="1600200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120640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23560"/>
            <a:ext cx="3611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Normalizing Flow
76M params · from scratch
NFE 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5074920"/>
            <a:ext cx="3611880" cy="1600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5120640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FLUX.1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5623560"/>
            <a:ext cx="3611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Flow Matching DiT
~12B params · pretrained
NFE = 4 / 8 /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5074920"/>
            <a:ext cx="3611880" cy="1600200"/>
          </a:xfrm>
          <a:prstGeom prst="rect">
            <a:avLst/>
          </a:prstGeom>
          <a:solidFill>
            <a:srgbClr val="E8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5120640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DDPM / DDIM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5623560"/>
            <a:ext cx="3611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Denoising Diffusion
113M params · CelebA-HQ
NFE = 10 / 20 / 50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 Generative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How each model transports noise → data distribution</a:t>
            </a:r>
          </a:p>
        </p:txBody>
      </p:sp>
      <p:pic>
        <p:nvPicPr>
          <p:cNvPr id="6" name="Picture 5" descr="fig1_concep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0432"/>
            <a:ext cx="11457432" cy="58050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Background: GLOW (Normalizing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Kingma &amp; Dhariwal, NeurIPS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>
                <a:solidFill>
                  <a:srgbClr val="1A1A2E"/>
                </a:solidFill>
              </a:rPr>
              <a:t>• Invertible bijection  f : X → Z  with exact log-likelihood: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  – log p_X(x) = log p_Z(f(x)) + log |det(∂f/∂x)|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A1A2E"/>
                </a:solidFill>
              </a:rPr>
              <a:t>• Three components per flow step: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  – ActNorm — data-driven normalization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  – Invertible 1×1 Conv — learned channel permutation (LU decomp.)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  – Affine Coupling — half channels predict scale &amp; shift for other half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A1A2E"/>
                </a:solidFill>
              </a:rPr>
              <a:t>• Config: 4 blocks × 32 flows, hidden 512  ≈ 76M params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A1A2E"/>
                </a:solidFill>
              </a:rPr>
              <a:t>• Sampling: single reverse pass — NFE = 1, no iteration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A1A2E"/>
                </a:solidFill>
              </a:rPr>
              <a:t>• Stability fixes: clamp log-scale [−3,3]  +  NaN/Inf gradient guard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234440"/>
            <a:ext cx="1097280" cy="566928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23444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01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A05B"/>
                </a:solidFill>
              </a:rPr>
              <a:t>NFE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234440"/>
            <a:ext cx="1097280" cy="566928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23444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01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A05B"/>
                </a:solidFill>
              </a:rPr>
              <a:t>NLL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234440"/>
            <a:ext cx="1097280" cy="566928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23444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801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A05B"/>
                </a:solidFill>
              </a:rPr>
              <a:t>Recon.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35640" y="1234440"/>
            <a:ext cx="1097280" cy="566928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5640" y="123444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1801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A05B"/>
                </a:solidFill>
              </a:rPr>
              <a:t>Interp.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1155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76C"/>
                </a:solidFill>
              </a:rPr>
              <a:t>GLOW-exclusive →</a:t>
            </a:r>
          </a:p>
        </p:txBody>
      </p:sp>
      <p:pic>
        <p:nvPicPr>
          <p:cNvPr id="20" name="Picture 19" descr="fig2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240280"/>
            <a:ext cx="4800600" cy="26042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86600" y="6172200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376C"/>
                </a:solidFill>
              </a:rPr>
              <a:t>NLL still decreasing at 30k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Background: FLUX.1 and DDPM/DDIM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548640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5FA3"/>
                </a:solidFill>
              </a:rPr>
              <a:t>FLUX.1  (Flow Matching)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55648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Learns vector field v_θ(x,t) → ODE: noise → data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12B-param Diffusion Transformer (DiT)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Pretrained on large-scale images (≥512×512)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schnell: 4 NFE (distilled)  |  dev: 8 / 28 NFE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⚠ No exact NLL  •  No reconstruction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⚠ Resolution mismatch at 64×64 (design ≥512)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70432"/>
            <a:ext cx="557784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E84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261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4A2F"/>
                </a:solidFill>
              </a:rPr>
              <a:t>DDPM / DDIM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755648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DDPM: Markov noise chain, 1000-step stochastic reverse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DDIM: deterministic ODE from same score (no retraining)</a:t>
            </a:r>
          </a:p>
          <a:p>
            <a:pPr lvl="1"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  – NFE ∈ {10, 20, 50} vs DDPM-100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Model: google/ddpm-celebahq-256  (113M params)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Trained on face images → good transfer to 64×64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Sample at 256, bicubic downsample to 64×64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⚠ No exact NLL  •  No reconstruction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Main Results: Complete Pareto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FID: 5k generated vs 70k FFHQ-64 real images  (cleanfid)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2240280" cy="470916"/>
          </a:xfrm>
          <a:prstGeom prst="rect">
            <a:avLst/>
          </a:prstGeom>
          <a:solidFill>
            <a:srgbClr val="1A376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25296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170432"/>
            <a:ext cx="713232" cy="470916"/>
          </a:xfrm>
          <a:prstGeom prst="rect">
            <a:avLst/>
          </a:prstGeom>
          <a:solidFill>
            <a:srgbClr val="1A376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1176" y="1225296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170432"/>
            <a:ext cx="621792" cy="470916"/>
          </a:xfrm>
          <a:prstGeom prst="rect">
            <a:avLst/>
          </a:prstGeom>
          <a:solidFill>
            <a:srgbClr val="1A376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225296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9624" y="1170432"/>
            <a:ext cx="868680" cy="470916"/>
          </a:xfrm>
          <a:prstGeom prst="rect">
            <a:avLst/>
          </a:prstGeom>
          <a:solidFill>
            <a:srgbClr val="1A376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225296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FID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18304" y="1170432"/>
            <a:ext cx="960120" cy="470916"/>
          </a:xfrm>
          <a:prstGeom prst="rect">
            <a:avLst/>
          </a:prstGeom>
          <a:solidFill>
            <a:srgbClr val="1A376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225296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NLL (b/d)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78424" y="1170432"/>
            <a:ext cx="914400" cy="470916"/>
          </a:xfrm>
          <a:prstGeom prst="rect">
            <a:avLst/>
          </a:prstGeom>
          <a:solidFill>
            <a:srgbClr val="1A376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225296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Time (5k)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92824" y="1170432"/>
            <a:ext cx="1920240" cy="470916"/>
          </a:xfrm>
          <a:prstGeom prst="rect">
            <a:avLst/>
          </a:prstGeom>
          <a:solidFill>
            <a:srgbClr val="1A376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225296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641348"/>
            <a:ext cx="22402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" y="1696212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GLOW (30k)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1641348"/>
            <a:ext cx="71323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1176" y="1696212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76M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7832" y="1641348"/>
            <a:ext cx="62179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4408" y="1696212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9624" y="1641348"/>
            <a:ext cx="8686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1696212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183.35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8304" y="1641348"/>
            <a:ext cx="960120" cy="470916"/>
          </a:xfrm>
          <a:prstGeom prst="rect">
            <a:avLst/>
          </a:prstGeom>
          <a:solidFill>
            <a:srgbClr val="C8ED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1696212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−4.61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78424" y="1641348"/>
            <a:ext cx="91440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1696212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137s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2824" y="1641348"/>
            <a:ext cx="192024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1696212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FFHQ-64 scratch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112264"/>
            <a:ext cx="2240280" cy="470916"/>
          </a:xfrm>
          <a:prstGeom prst="rect">
            <a:avLst/>
          </a:prstGeom>
          <a:solidFill>
            <a:srgbClr val="FF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2167128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FLUX.1-schnell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2112264"/>
            <a:ext cx="713232" cy="470916"/>
          </a:xfrm>
          <a:prstGeom prst="rect">
            <a:avLst/>
          </a:prstGeom>
          <a:solidFill>
            <a:srgbClr val="FF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51176" y="2167128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12B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27832" y="2112264"/>
            <a:ext cx="621792" cy="470916"/>
          </a:xfrm>
          <a:prstGeom prst="rect">
            <a:avLst/>
          </a:prstGeom>
          <a:solidFill>
            <a:srgbClr val="FF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4408" y="2167128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9624" y="2112264"/>
            <a:ext cx="868680" cy="470916"/>
          </a:xfrm>
          <a:prstGeom prst="rect">
            <a:avLst/>
          </a:prstGeom>
          <a:solidFill>
            <a:srgbClr val="FF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6200" y="2167128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184.94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8304" y="2112264"/>
            <a:ext cx="960120" cy="470916"/>
          </a:xfrm>
          <a:prstGeom prst="rect">
            <a:avLst/>
          </a:prstGeom>
          <a:solidFill>
            <a:srgbClr val="FF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2167128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78424" y="2112264"/>
            <a:ext cx="914400" cy="470916"/>
          </a:xfrm>
          <a:prstGeom prst="rect">
            <a:avLst/>
          </a:prstGeom>
          <a:solidFill>
            <a:srgbClr val="FF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2167128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1,231s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92824" y="2112264"/>
            <a:ext cx="1920240" cy="470916"/>
          </a:xfrm>
          <a:prstGeom prst="rect">
            <a:avLst/>
          </a:prstGeom>
          <a:solidFill>
            <a:srgbClr val="FF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2167128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Pretrained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583180"/>
            <a:ext cx="22402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2638044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FLUX.1-dev-8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2583180"/>
            <a:ext cx="71323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51176" y="2638044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12B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27832" y="2583180"/>
            <a:ext cx="62179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64408" y="2638044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9624" y="2583180"/>
            <a:ext cx="8686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86200" y="2638044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126.15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18304" y="2583180"/>
            <a:ext cx="96012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2638044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78424" y="2583180"/>
            <a:ext cx="91440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5000" y="2638044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92824" y="2583180"/>
            <a:ext cx="192024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0" y="2638044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Pretrained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054096"/>
            <a:ext cx="224028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3108960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DDIM-10 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14600" y="3054096"/>
            <a:ext cx="713232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51176" y="3108960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113M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27832" y="3054096"/>
            <a:ext cx="621792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64408" y="3108960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9624" y="3054096"/>
            <a:ext cx="86868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86200" y="3108960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68.75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18304" y="3054096"/>
            <a:ext cx="96012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3108960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78424" y="3054096"/>
            <a:ext cx="91440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15000" y="3108960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602s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92824" y="3054096"/>
            <a:ext cx="192024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29400" y="3108960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CelebA-HQ-256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3525012"/>
            <a:ext cx="22402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" y="3579876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DDIM-20 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14600" y="3525012"/>
            <a:ext cx="71323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51176" y="3579876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113M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27832" y="3525012"/>
            <a:ext cx="62179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64408" y="3579876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49624" y="3525012"/>
            <a:ext cx="8686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86200" y="3579876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65.96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18304" y="3525012"/>
            <a:ext cx="96012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54880" y="3579876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78424" y="3525012"/>
            <a:ext cx="91440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15000" y="3579876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1,346s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92824" y="3525012"/>
            <a:ext cx="192024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29400" y="3579876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CelebA-HQ-256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995928"/>
            <a:ext cx="224028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4050792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DDIM-50 †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14600" y="3995928"/>
            <a:ext cx="713232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51176" y="4050792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113M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27832" y="3995928"/>
            <a:ext cx="621792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64408" y="4050792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50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49624" y="3995928"/>
            <a:ext cx="868680" cy="470916"/>
          </a:xfrm>
          <a:prstGeom prst="rect">
            <a:avLst/>
          </a:prstGeom>
          <a:solidFill>
            <a:srgbClr val="FFF0B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886200" y="4050792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61.78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18304" y="3995928"/>
            <a:ext cx="96012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54880" y="4050792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78424" y="3995928"/>
            <a:ext cx="91440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15000" y="4050792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2,658s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92824" y="3995928"/>
            <a:ext cx="192024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29400" y="4050792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CelebA-HQ-256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4466844"/>
            <a:ext cx="22402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10896" y="4521708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DDPM-100 †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14600" y="4466844"/>
            <a:ext cx="71323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551176" y="4521708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113M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27832" y="4466844"/>
            <a:ext cx="621792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64408" y="4521708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9624" y="4466844"/>
            <a:ext cx="86868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886200" y="4521708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71.87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18304" y="4466844"/>
            <a:ext cx="96012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54880" y="4521708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78424" y="4466844"/>
            <a:ext cx="91440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15000" y="4521708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5,453s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592824" y="4466844"/>
            <a:ext cx="1920240" cy="4709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629400" y="4521708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CelebA-HQ-256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4937760"/>
            <a:ext cx="224028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10896" y="4992624"/>
            <a:ext cx="21671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FLUX.1-dev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514600" y="4937760"/>
            <a:ext cx="713232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551176" y="4992624"/>
            <a:ext cx="64008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12B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27832" y="4937760"/>
            <a:ext cx="621792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64408" y="4992624"/>
            <a:ext cx="548640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28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849624" y="4937760"/>
            <a:ext cx="86868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886200" y="4992624"/>
            <a:ext cx="79552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117.87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718304" y="4937760"/>
            <a:ext cx="96012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754880" y="4992624"/>
            <a:ext cx="88696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678424" y="4937760"/>
            <a:ext cx="91440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715000" y="4992624"/>
            <a:ext cx="84124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8,617s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92824" y="4937760"/>
            <a:ext cx="1920240" cy="470916"/>
          </a:xfrm>
          <a:prstGeom prst="rect">
            <a:avLst/>
          </a:prstGeom>
          <a:solidFill>
            <a:srgbClr val="F0F4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29400" y="4992624"/>
            <a:ext cx="1847088" cy="379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Pretrained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638251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† CelebA-HQ-256 pretrained, downsampled to 64×64    Yellow = best FID    Pink = Pareto-suboptimal    Green = best NLL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Compute–Quality Pareto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Three regimes — one dominated model</a:t>
            </a:r>
          </a:p>
        </p:txBody>
      </p:sp>
      <p:pic>
        <p:nvPicPr>
          <p:cNvPr id="6" name="Picture 5" descr="fig3_fid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7863840" cy="30617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234440"/>
            <a:ext cx="3566160" cy="1243584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5048" y="1307592"/>
            <a:ext cx="3438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① Latency-critical  NFE=1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8" y="1737360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GLOW
FID 183.35  |  137s/5k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624328"/>
            <a:ext cx="3566160" cy="1243584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2697480"/>
            <a:ext cx="3438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② Efficiency-optimal  NFE=10–50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3127248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DDIM-50
FID 61.78 ★  |  2,658s/5k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4014216"/>
            <a:ext cx="3566160" cy="1243584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4087368"/>
            <a:ext cx="3438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③ High-compute  NFE=28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4517136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FLUX.1-dev
FID 117.87  |  8,617s/5k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5404104"/>
            <a:ext cx="3566160" cy="1243584"/>
          </a:xfrm>
          <a:prstGeom prst="rect">
            <a:avLst/>
          </a:prstGeom>
          <a:solidFill>
            <a:srgbClr val="E8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5477256"/>
            <a:ext cx="3438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✗ Pareto-suboptimal  NFE=4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5907024"/>
            <a:ext cx="34381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FLUX schnell
FID 184.94  |  9× slower than GLOW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Generated Samples at 64×64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GLOW (NFE=1)  ·  FLUX.1-schnell (NFE=4)  ·  FLUX.1-dev (NFE=28)</a:t>
            </a:r>
          </a:p>
        </p:txBody>
      </p:sp>
      <p:pic>
        <p:nvPicPr>
          <p:cNvPr id="6" name="Picture 5" descr="fig4_sampl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60152" cy="117641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44"/>
                </a:solidFill>
              </a:rPr>
              <a:t>GLOW: coherent faces, softer texture  |  FLUX schnell: diverse but can hallucinate at 64×64  |  FLUX dev: best visual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GLOW-Exclusive (1): Exact Likelihood &amp;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Architecturally impossible for FLUX.1 and DDPM/DDIM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12064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2E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A05B"/>
                </a:solidFill>
              </a:rPr>
              <a:t>Exact Log-Likelihood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64792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NLL = −4.61 bits/dim  (still decreasing at 30k steps)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Diffusion models cannot compute exact NLL</a:t>
            </a:r>
          </a:p>
          <a:p>
            <a:pPr lvl="1"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  – Would need expensive ELBO approximations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A1A2E"/>
                </a:solidFill>
              </a:rPr>
              <a:t>• Applications requiring tractable density:</a:t>
            </a:r>
          </a:p>
          <a:p>
            <a:pPr lvl="1"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  – Anomaly / OOD detection</a:t>
            </a:r>
          </a:p>
          <a:p>
            <a:pPr lvl="1"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  – Lossless data compression</a:t>
            </a:r>
          </a:p>
          <a:p>
            <a:pPr lvl="1"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  – Model-based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170432"/>
            <a:ext cx="62179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2E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9008" y="1261872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A05B"/>
                </a:solidFill>
              </a:rPr>
              <a:t>Encode → Decode Reconstruction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79008" y="1764792"/>
            <a:ext cx="2697480" cy="594360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79008" y="176479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PSNR = 24.24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05088" y="1764792"/>
            <a:ext cx="2697480" cy="594360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76479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SSIM = 0.977</a:t>
            </a:r>
          </a:p>
        </p:txBody>
      </p:sp>
      <p:pic>
        <p:nvPicPr>
          <p:cNvPr id="15" name="Picture 14" descr="fig5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487168"/>
            <a:ext cx="5989320" cy="33268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79008" y="6236208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376C"/>
                </a:solidFill>
              </a:rPr>
              <a:t>High SSIM: face structure perfectly preserved  |  Non-∞ PSNR: float32 accumulation over 128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GLOW-Exclusive (2): Latent Interpolation &amp; OOD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717804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261872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E5FA3"/>
                </a:solidFill>
              </a:rPr>
              <a:t>Latent Space Interpolation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5564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</a:rPr>
              <a:t>z_α = (1−α)·z_A + α·z_B   decoded for α ∈ {0, 0.2, 0.4, 0.6, 0.8, 1.0}</a:t>
            </a:r>
          </a:p>
        </p:txBody>
      </p:sp>
      <p:pic>
        <p:nvPicPr>
          <p:cNvPr id="8" name="Picture 7" descr="fig6_inter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48840"/>
            <a:ext cx="6949440" cy="55907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61722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76C"/>
                </a:solidFill>
              </a:rPr>
              <a:t>Smooth semantic transitions — requires exact invertibility  (impossible for FLUX.1 / DDPM)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1170432"/>
            <a:ext cx="416052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E84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2618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4A2F"/>
                </a:solidFill>
              </a:rPr>
              <a:t>OOD Detection via NLL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36408" y="1828800"/>
            <a:ext cx="3840480" cy="713232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828800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FFHQ faces  (in-dist)
−4.61 b/d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36408" y="2633472"/>
            <a:ext cx="3840480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2633472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Solid color  (OOD)
−6.85 b/d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6408" y="3438144"/>
            <a:ext cx="3840480" cy="713232"/>
          </a:xfrm>
          <a:prstGeom prst="rect">
            <a:avLst/>
          </a:prstGeom>
          <a:solidFill>
            <a:srgbClr val="E8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3438144"/>
            <a:ext cx="3840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Random noise  (OOD)
NaN</a:t>
            </a:r>
          </a:p>
        </p:txBody>
      </p:sp>
      <p:pic>
        <p:nvPicPr>
          <p:cNvPr id="18" name="Picture 17" descr="fig7_ood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315968"/>
            <a:ext cx="4160520" cy="18265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0" y="626364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84A2F"/>
                </a:solidFill>
              </a:rPr>
              <a:t>⚠ Likelihood ≠ Perceptual quality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2D Transport Visualization (Two-Moons)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8F0"/>
                </a:solidFill>
              </a:rPr>
              <a:t>How each paradigm moves points from Gaussian noise to the target data distribution</a:t>
            </a:r>
          </a:p>
        </p:txBody>
      </p:sp>
      <p:pic>
        <p:nvPicPr>
          <p:cNvPr id="6" name="Picture 5" descr="fig8_transport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4344617"/>
          </a:xfrm>
          <a:prstGeom prst="rect">
            <a:avLst/>
          </a:prstGeom>
        </p:spPr>
      </p:pic>
      <p:pic>
        <p:nvPicPr>
          <p:cNvPr id="7" name="Picture 6" descr="fig9_twomoons_4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532120" cy="40438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636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376C"/>
                </a:solidFill>
              </a:rPr>
              <a:t>Transport paths per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626364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376C"/>
                </a:solidFill>
              </a:rPr>
              <a:t>Intermediate distributions (6 snapshots)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Discussion: Why These Results?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• Why FLUX.1-schnell fails to beat GLOW at 64×64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VAE downsamples 64×64 → only 8×8 = 256 feature tokens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Positional encodings calibrated for ≥512×512 → attention degraded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Distilled 4-NFE trajectory is out-of-distribution at this resolution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• Why DDIM dominates the middle Pareto region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google/ddpm-celebahq-256 trained on face images → clean domain transfer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Pixel-space diffusion — no VAE bottleneck — handles downsampling well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Deterministic ODE more sample-efficient than stochastic DDPM chain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• GLOW training sensitivity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Required log-scale clamp [−3,3] + gradient guard to prevent divergence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NLL still decreasing at 30k steps — more training would improve FID</a:t>
            </a:r>
          </a:p>
          <a:p>
            <a:pPr>
              <a:spcAft>
                <a:spcPts val="400"/>
              </a:spcAft>
            </a:pPr>
            <a:r>
              <a:rPr sz="1700">
                <a:solidFill>
                  <a:srgbClr val="1A1A2E"/>
                </a:solidFill>
              </a:rPr>
              <a:t>• Practical model selection guide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Need NFE=1 + exact density?  →  GLOW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Best FID at moderate compute?  →  DDIM-50 (FID 61.78)</a:t>
            </a:r>
          </a:p>
          <a:p>
            <a:pPr lvl="1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</a:rPr>
              <a:t>  – Text-conditioned / high-resolution?  →  FLUX.1-dev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50292"/>
          </a:xfrm>
          <a:prstGeom prst="rect">
            <a:avLst/>
          </a:prstGeom>
          <a:solidFill>
            <a:srgbClr val="E8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5577840" cy="2377440"/>
          </a:xfrm>
          <a:prstGeom prst="rect">
            <a:avLst/>
          </a:prstGeom>
          <a:solidFill>
            <a:srgbClr val="2E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53312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GLOW = FLUX schnell  (NFE=1)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47672"/>
            <a:ext cx="53218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76M-param flow matches 12B diffusion model at 64×64
9× faster sampling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61872"/>
            <a:ext cx="5577840" cy="2377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53312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DDIM-50 wins overall 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53218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FID = 61.78 — best among all 8 operating points
Face-domain pretraining transfers cleanly to 64×64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67912"/>
            <a:ext cx="5577840" cy="2377440"/>
          </a:xfrm>
          <a:prstGeom prst="rect">
            <a:avLst/>
          </a:prstGeom>
          <a:solidFill>
            <a:srgbClr val="E84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59352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FLUX.1-schnell is Pareto-suboptimal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53218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Dominated by GLOW on FID AND speed
No operating point advantage at this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867912"/>
            <a:ext cx="5577840" cy="237744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59352"/>
            <a:ext cx="5321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GLOW: exclusive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53712"/>
            <a:ext cx="53218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Exact NLL · Reconstruction · Latent Interpolation
Unavailable to any diffusion model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C8F0"/>
                </a:solidFill>
              </a:rPr>
              <a:t>Resolution matters: architectural advantages of large pretrained models do not uniformly transfer outside their designed operating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